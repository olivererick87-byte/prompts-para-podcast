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</p:sldIdLst>
  <p:sldSz cx="6858000" cy="12192635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3838"/>
        <p:guide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2581371" y="1279525"/>
            <a:ext cx="1942909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2352382"/>
            <a:ext cx="5143500" cy="3888745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45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4848"/>
            <a:ext cx="5143500" cy="294414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331" y="459546"/>
            <a:ext cx="5915025" cy="2357007"/>
          </a:xfrm>
        </p:spPr>
        <p:txBody>
          <a:bodyPr anchor="ctr" anchorCtr="0">
            <a:normAutofit/>
          </a:bodyPr>
          <a:lstStyle>
            <a:lvl1pPr>
              <a:defRPr sz="33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331" y="3246176"/>
            <a:ext cx="5915025" cy="7737191"/>
          </a:xfrm>
        </p:spPr>
        <p:txBody>
          <a:bodyPr>
            <a:normAutofit/>
          </a:bodyPr>
          <a:lstStyle>
            <a:lvl1pPr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6669622"/>
            <a:ext cx="5536763" cy="1442996"/>
          </a:xfrm>
        </p:spPr>
        <p:txBody>
          <a:bodyPr anchor="b">
            <a:noAutofit/>
          </a:bodyPr>
          <a:lstStyle>
            <a:lvl1pPr>
              <a:defRPr sz="45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97173"/>
            <a:ext cx="4118372" cy="115142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4331" y="459546"/>
            <a:ext cx="5915025" cy="2357007"/>
          </a:xfrm>
        </p:spPr>
        <p:txBody>
          <a:bodyPr>
            <a:normAutofit/>
          </a:bodyPr>
          <a:lstStyle>
            <a:lvl1pPr>
              <a:defRPr sz="33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4331" y="3246176"/>
            <a:ext cx="2914650" cy="773719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64706" y="3246176"/>
            <a:ext cx="2914650" cy="773719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1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235"/>
            <a:ext cx="5915025" cy="2357007"/>
          </a:xfrm>
        </p:spPr>
        <p:txBody>
          <a:bodyPr/>
          <a:lstStyle>
            <a:lvl1pPr>
              <a:defRPr sz="33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3102746"/>
            <a:ext cx="2901255" cy="1465013"/>
          </a:xfrm>
        </p:spPr>
        <p:txBody>
          <a:bodyPr anchor="b"/>
          <a:lstStyle>
            <a:lvl1pPr marL="0" indent="0">
              <a:buNone/>
              <a:defRPr sz="18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650861"/>
            <a:ext cx="2901255" cy="635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3102746"/>
            <a:ext cx="2915543" cy="1465013"/>
          </a:xfrm>
        </p:spPr>
        <p:txBody>
          <a:bodyPr anchor="b"/>
          <a:lstStyle>
            <a:lvl1pPr marL="0" indent="0">
              <a:buNone/>
              <a:defRPr sz="18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4650861"/>
            <a:ext cx="2915543" cy="6355089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4918663"/>
            <a:ext cx="5915025" cy="2357007"/>
          </a:xfrm>
        </p:spPr>
        <p:txBody>
          <a:bodyPr>
            <a:normAutofit/>
          </a:bodyPr>
          <a:lstStyle>
            <a:lvl1pPr algn="ctr">
              <a:defRPr sz="33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795" y="225821"/>
            <a:ext cx="2342925" cy="2845344"/>
          </a:xfrm>
        </p:spPr>
        <p:txBody>
          <a:bodyPr anchor="ctr" anchorCtr="0">
            <a:normAutofit/>
          </a:bodyPr>
          <a:lstStyle>
            <a:lvl1pPr>
              <a:defRPr sz="2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6000" y="1362668"/>
            <a:ext cx="3272273" cy="90585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6653" y="3658300"/>
            <a:ext cx="2342925" cy="677745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6272" y="649235"/>
            <a:ext cx="860240" cy="10334132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235"/>
            <a:ext cx="4994976" cy="1033413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71488" y="980708"/>
            <a:ext cx="5915025" cy="9884505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235"/>
            <a:ext cx="5915025" cy="23570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6176"/>
            <a:ext cx="5915025" cy="7737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2339"/>
            <a:ext cx="1543050" cy="6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2339"/>
            <a:ext cx="2314575" cy="6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2339"/>
            <a:ext cx="1543050" cy="6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685800" rtl="0" eaLnBrk="1" fontAlgn="auto" latinLnBrk="0" hangingPunct="1">
        <a:lnSpc>
          <a:spcPct val="90000"/>
        </a:lnSpc>
        <a:spcBef>
          <a:spcPts val="750"/>
        </a:spcBef>
        <a:spcAft>
          <a:spcPts val="0"/>
        </a:spcAft>
        <a:buClrTx/>
        <a:buSzTx/>
        <a:buFont typeface="Arial" panose="020B0604020202020204" pitchFamily="34" charset="0"/>
        <a:buNone/>
        <a:defRPr sz="21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Imagem 5" descr="generated-image (1)"/>
          <p:cNvPicPr>
            <a:picLocks noChangeAspect="1"/>
          </p:cNvPicPr>
          <p:nvPr/>
        </p:nvPicPr>
        <p:blipFill>
          <a:blip r:embed="rId1"/>
          <a:srcRect l="19573" t="6567" r="20347"/>
          <a:stretch>
            <a:fillRect/>
          </a:stretch>
        </p:blipFill>
        <p:spPr>
          <a:xfrm>
            <a:off x="-13970" y="50165"/>
            <a:ext cx="6871970" cy="12169140"/>
          </a:xfrm>
          <a:prstGeom prst="rect">
            <a:avLst/>
          </a:prstGeom>
        </p:spPr>
      </p:pic>
      <p:sp>
        <p:nvSpPr>
          <p:cNvPr id="8" name="Caixa de Texto 7"/>
          <p:cNvSpPr txBox="1"/>
          <p:nvPr/>
        </p:nvSpPr>
        <p:spPr>
          <a:xfrm>
            <a:off x="1854200" y="11488420"/>
            <a:ext cx="31502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t-BR" altLang="en-US" sz="2400" b="1">
                <a:latin typeface="Bahnschrift SemiBold" panose="020B0502040204020203" charset="0"/>
                <a:cs typeface="Bahnschrift SemiBold" panose="020B0502040204020203" charset="0"/>
              </a:rPr>
              <a:t>Erick Oliveira Santos</a:t>
            </a:r>
            <a:endParaRPr lang="pt-BR" altLang="en-US" sz="2400" b="1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 sz="4000">
                <a:latin typeface="+mj-lt"/>
                <a:cs typeface="+mj-lt"/>
              </a:rPr>
              <a:t>Sumário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4" name="Espaço Reservado para Conteúdo 3"/>
          <p:cNvSpPr/>
          <p:nvPr>
            <p:ph idx="1"/>
          </p:nvPr>
        </p:nvSpPr>
        <p:spPr>
          <a:xfrm>
            <a:off x="364490" y="1924050"/>
            <a:ext cx="5915025" cy="9059545"/>
          </a:xfrm>
        </p:spPr>
        <p:txBody>
          <a:bodyPr>
            <a:noAutofit/>
          </a:bodyPr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Introdu</a:t>
            </a:r>
            <a:r>
              <a:rPr lang="" altLang="en-US" sz="16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16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o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O que </a:t>
            </a:r>
            <a:r>
              <a:rPr lang="en-US" altLang="en-US" sz="16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 Customer Success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O papel do Technical Account Manager (TAM)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Da t</a:t>
            </a:r>
            <a:r>
              <a:rPr lang="en-US" altLang="en-US" sz="16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cnica ao talento humano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Compet</a:t>
            </a:r>
            <a:r>
              <a:rPr lang="en-US" altLang="en-US" sz="16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ncias essenciais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Soft Skills para TAM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Como criar conex</a:t>
            </a:r>
            <a:r>
              <a:rPr lang="" altLang="en-US" sz="1600">
                <a:solidFill>
                  <a:schemeClr val="tx1"/>
                </a:solidFill>
                <a:latin typeface="+mn-lt"/>
                <a:cs typeface="+mn-lt"/>
              </a:rPr>
              <a:t>õ</a:t>
            </a:r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es com clientes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Ferramentas e rotinas do TAM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Cases inspiradores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Superando desafios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Dicas para crescimento profissional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Equil</a:t>
            </a:r>
            <a:r>
              <a:rPr lang="en-US" altLang="en-US" sz="1600">
                <a:solidFill>
                  <a:schemeClr val="tx1"/>
                </a:solidFill>
                <a:latin typeface="+mn-lt"/>
                <a:cs typeface="+mn-lt"/>
              </a:rPr>
              <a:t>í</a:t>
            </a:r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brio entre vida pessoal e carreira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Networking e comunidade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Tend</a:t>
            </a:r>
            <a:r>
              <a:rPr lang="en-US" altLang="en-US" sz="16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ncias do mercado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  <a:p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Considera</a:t>
            </a:r>
            <a:r>
              <a:rPr lang="" altLang="en-US" sz="1600">
                <a:solidFill>
                  <a:schemeClr val="tx1"/>
                </a:solidFill>
                <a:latin typeface="+mn-lt"/>
                <a:cs typeface="+mn-lt"/>
              </a:rPr>
              <a:t>çõ</a:t>
            </a:r>
            <a:r>
              <a:rPr lang="en-US" altLang="pt-BR" sz="1600">
                <a:solidFill>
                  <a:schemeClr val="tx1"/>
                </a:solidFill>
                <a:latin typeface="+mn-lt"/>
                <a:cs typeface="+mn-lt"/>
              </a:rPr>
              <a:t>es finais</a:t>
            </a:r>
            <a:endParaRPr lang="en-US" altLang="pt-BR" sz="16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 sz="4000">
                <a:latin typeface="+mj-lt"/>
                <a:cs typeface="+mj-lt"/>
              </a:rPr>
              <a:t>Introdução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Dar suporte ao sucesso dos clientes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 mais do que uma fun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o;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 uma miss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que transforma carreiras e empresas. Neste ebook, voc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 vai explorar o universo do Customer Success aplicado ao papel do Technical Account Manager, descobrindo caminhos para crescer como profissional e inspirar resultados ao seu redor.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O que </a:t>
            </a:r>
            <a:r>
              <a:rPr lang="en-US" altLang="en-US" sz="4000">
                <a:latin typeface="+mj-lt"/>
                <a:cs typeface="+mj-lt"/>
                <a:sym typeface="+mn-ea"/>
              </a:rPr>
              <a:t>é</a:t>
            </a:r>
            <a:r>
              <a:rPr lang="en-US" altLang="pt-BR" sz="4000">
                <a:latin typeface="+mj-lt"/>
                <a:cs typeface="+mj-lt"/>
                <a:sym typeface="+mn-ea"/>
              </a:rPr>
              <a:t> Customer Success?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4490" y="3246120"/>
            <a:ext cx="6089015" cy="8397875"/>
          </a:xfrm>
        </p:spPr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Customer Success vai al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m do atendimento tradicional;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 sobre criar valor cont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í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nuo, prevenindo problemas e promovendo resultados positivos que garantem fidelidade do cliente. Ao compreender as necessidades e objetivos do cliente, profissionais da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á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rea tornam-se pe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a-chave para o crescimento sustent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á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vel dos neg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ó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cios.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O papel do Technical Account Manager (TAM)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TAM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 o elo entre clientes e equipes 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cnicas. Seu trabalho envolve entender a fundo os produtos, traduzir oportunidades em solu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çõ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es e garantir que cada intera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gere progresso. O sucesso do cliente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 reflexo direto dessa atua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consultiva, estrat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gica e humanizada.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Da t</a:t>
            </a:r>
            <a:r>
              <a:rPr lang="en-US" altLang="en-US" sz="4000">
                <a:latin typeface="+mj-lt"/>
                <a:cs typeface="+mj-lt"/>
                <a:sym typeface="+mn-ea"/>
              </a:rPr>
              <a:t>é</a:t>
            </a:r>
            <a:r>
              <a:rPr lang="en-US" altLang="pt-BR" sz="4000">
                <a:latin typeface="+mj-lt"/>
                <a:cs typeface="+mj-lt"/>
                <a:sym typeface="+mn-ea"/>
              </a:rPr>
              <a:t>cnica ao talento humano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Estar preparado tecnicamente 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 fundamental, mas o diferencial est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á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 na capacidade de se conectar com pessoas. TAMs bem-sucedidos unem conhecimento 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cnico e empatia, entendendo os desafios do cliente e atuando como parceiros verdadeiros na conquista de resultados.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Compet</a:t>
            </a:r>
            <a:r>
              <a:rPr lang="en-US" altLang="en-US" sz="4000">
                <a:latin typeface="+mj-lt"/>
                <a:cs typeface="+mj-lt"/>
                <a:sym typeface="+mn-ea"/>
              </a:rPr>
              <a:t>ê</a:t>
            </a:r>
            <a:r>
              <a:rPr lang="en-US" altLang="pt-BR" sz="4000">
                <a:latin typeface="+mj-lt"/>
                <a:cs typeface="+mj-lt"/>
                <a:sym typeface="+mn-ea"/>
              </a:rPr>
              <a:t>ncias essenciais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TAM deve dominar gest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de projetos, tecnologia da informa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o, an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á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lise de dados e metodologias de resolu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de problemas. Al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m disso, saber realizar apresenta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çõ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es, construir solu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çõ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es customizadas e seguir processos de acompanhamento s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cruciais para uma atua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relevante.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Soft Skills para TAM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Comunica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clara, intelig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ncia emocional, colabora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o, adaptabilidade e postura proativa fazem toda diferen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a. Saber ouvir, mostrar resili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ncia e agir com diplomacia s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compet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ncias que elevam a experi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ncia do cliente e do profissional.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Como criar conex</a:t>
            </a:r>
            <a:r>
              <a:rPr lang="en-US" altLang="en-US" sz="4000">
                <a:latin typeface="+mj-lt"/>
                <a:cs typeface="+mj-lt"/>
                <a:sym typeface="+mn-ea"/>
              </a:rPr>
              <a:t>õ</a:t>
            </a:r>
            <a:r>
              <a:rPr lang="en-US" altLang="pt-BR" sz="4000">
                <a:latin typeface="+mj-lt"/>
                <a:cs typeface="+mj-lt"/>
                <a:sym typeface="+mn-ea"/>
              </a:rPr>
              <a:t>es com clientes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cnicas de escuta ativa, personaliza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do atendimento e constru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de confian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a s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fundamentais. Buscar entender o contexto e as expectativas do cliente gera proximidade e facilita a resolu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de problemas, tornando o relacionamento duradouro.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Ferramentas e rotinas do TAM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CRMs, sistemas de automa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o, ferramentas de acompanhamento e dashboards s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aliados na rotina do TAM. Ter processos definidos, reportar resultados e analisar m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tricas permitem identificar oportunidades e antecipar demandas dos clientes.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  <a:p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Cases inspiradores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Hist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ó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rias de sucesso mostram o impacto de uma atua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dedicada: profissionais que transformaram projetos estagnados, recuperaram contas em risco ou criaram novas solu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çõ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es junto ao cliente. Os resultados alcan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ados, al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é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m da satisfa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do cliente, evidenciam o valor de um TAM engajado.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Superando desafios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Falta de engajamento, resist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ncia a mudan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as, escassez de recursos ou integra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de novas tecnologias s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obst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á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culos comuns. O segredo est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á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 em manter a mentalidade positiva e buscar alternativas inovadoras para entregar valor mesmo frente aos desafios.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Dicas para crescimento profissional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Invista em aprendizado cont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í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nuo: cursos, certifica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çõ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es, leituras e eventos do setor. Busque feedback, registre conquistas e compartilhe conhecimento. O crescimento depende da 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o, curiosidade e da capacidade de se reinventar.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Equil</a:t>
            </a:r>
            <a:r>
              <a:rPr lang="en-US" altLang="en-US" sz="4000">
                <a:latin typeface="+mj-lt"/>
                <a:cs typeface="+mj-lt"/>
                <a:sym typeface="+mn-ea"/>
              </a:rPr>
              <a:t>í</a:t>
            </a:r>
            <a:r>
              <a:rPr lang="en-US" altLang="pt-BR" sz="4000">
                <a:latin typeface="+mj-lt"/>
                <a:cs typeface="+mj-lt"/>
                <a:sym typeface="+mn-ea"/>
              </a:rPr>
              <a:t>brio entre vida pessoal e carreira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sucesso profissional deve caminhar junto com o bem-estar. Pratique a gest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do tempo, cuide da sa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ú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de mental e invista em momentos de lazer. Um TAM equilibrado inspira confian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a e entrega mais valor aos clientes.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Networking e comunidade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Construir uma rede de contatos traz oportunidades, parcerias e aprendizados. Participe de eventos, grupos de discuss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 e f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ó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runs de Customer Success. O compartilhamento de experi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ncias acelera o desenvolvimento e fortalece a carreira.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pt-BR" sz="4000">
                <a:latin typeface="+mj-lt"/>
                <a:cs typeface="+mj-lt"/>
                <a:sym typeface="+mn-ea"/>
              </a:rPr>
              <a:t>Tend</a:t>
            </a:r>
            <a:r>
              <a:rPr lang="en-US" altLang="en-US" sz="4000">
                <a:latin typeface="+mj-lt"/>
                <a:cs typeface="+mj-lt"/>
                <a:sym typeface="+mn-ea"/>
              </a:rPr>
              <a:t>ê</a:t>
            </a:r>
            <a:r>
              <a:rPr lang="en-US" altLang="pt-BR" sz="4000">
                <a:latin typeface="+mj-lt"/>
                <a:cs typeface="+mj-lt"/>
                <a:sym typeface="+mn-ea"/>
              </a:rPr>
              <a:t>ncias &amp; Considera</a:t>
            </a:r>
            <a:r>
              <a:rPr lang="en-US" altLang="en-US" sz="4000">
                <a:latin typeface="+mj-lt"/>
                <a:cs typeface="+mj-lt"/>
                <a:sym typeface="+mn-ea"/>
              </a:rPr>
              <a:t>çõ</a:t>
            </a:r>
            <a:r>
              <a:rPr lang="en-US" altLang="pt-BR" sz="4000">
                <a:latin typeface="+mj-lt"/>
                <a:cs typeface="+mj-lt"/>
                <a:sym typeface="+mn-ea"/>
              </a:rPr>
              <a:t>es finais</a:t>
            </a:r>
            <a:endParaRPr lang="pt-BR" altLang="en-US" sz="4000">
              <a:latin typeface="+mj-lt"/>
              <a:cs typeface="+mj-lt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Customer Success e o papel do TAM seguem em evolu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o: automa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ã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o, intelig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ncia artificial e foco total na experi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ê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ncia do cliente apontam novas dire</a:t>
            </a:r>
            <a:r>
              <a:rPr lang="" altLang="en-US" sz="2400">
                <a:solidFill>
                  <a:schemeClr val="tx1"/>
                </a:solidFill>
                <a:latin typeface="+mn-lt"/>
                <a:cs typeface="+mn-lt"/>
              </a:rPr>
              <a:t>çõ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es. Seja protagonista da sua jornada, invista no seu desenvolvimento e contribua para transformar neg</a:t>
            </a:r>
            <a:r>
              <a:rPr lang="en-US" altLang="en-US" sz="2400">
                <a:solidFill>
                  <a:schemeClr val="tx1"/>
                </a:solidFill>
                <a:latin typeface="+mn-lt"/>
                <a:cs typeface="+mn-lt"/>
              </a:rPr>
              <a:t>ó</a:t>
            </a:r>
            <a:r>
              <a:rPr lang="en-US" altLang="pt-BR" sz="2400">
                <a:solidFill>
                  <a:schemeClr val="tx1"/>
                </a:solidFill>
                <a:latin typeface="+mn-lt"/>
                <a:cs typeface="+mn-lt"/>
              </a:rPr>
              <a:t>cios e vidas.</a:t>
            </a:r>
            <a:endParaRPr lang="en-US" altLang="pt-BR" sz="2400">
              <a:solidFill>
                <a:schemeClr val="tx1"/>
              </a:solidFill>
              <a:latin typeface="+mn-lt"/>
              <a:cs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4410</Words>
  <Application>WPS Presentation</Application>
  <PresentationFormat>宽屏</PresentationFormat>
  <Paragraphs>92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Arial Black</vt:lpstr>
      <vt:lpstr>Bahnschrift</vt:lpstr>
      <vt:lpstr>Bahnschrift SemiBold</vt:lpstr>
      <vt:lpstr>Bahnschrift Light Condensed</vt:lpstr>
      <vt:lpstr>Bahnschrift SemiBold Condensed</vt:lpstr>
      <vt:lpstr>Office Theme</vt:lpstr>
      <vt:lpstr>PowerPoint 演示文稿</vt:lpstr>
      <vt:lpstr>PowerPoint 演示文稿</vt:lpstr>
      <vt:lpstr>Título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Networking e comunidade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erick</dc:creator>
  <cp:lastModifiedBy>Erick Oliveira Santos</cp:lastModifiedBy>
  <cp:revision>6</cp:revision>
  <dcterms:created xsi:type="dcterms:W3CDTF">2025-07-23T00:59:00Z</dcterms:created>
  <dcterms:modified xsi:type="dcterms:W3CDTF">2025-11-15T23:03:51Z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1046-12.2.0.23155</vt:lpwstr>
  </property>
  <property fmtid="{D5CDD505-2E9C-101B-9397-08002B2CF9AE}" pid="3" name="ICV">
    <vt:lpwstr>CA898248453D4052A9B91948E724EDF6_11</vt:lpwstr>
  </property>
</Properties>
</file>